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82" y="149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cff44694fc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cff44694fc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cff44694fc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cff44694fc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cff44694fc_1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cff44694fc_1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cff44694fc_1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cff44694fc_1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cff44694fc_1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cff44694fc_1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cff44694fc_1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cff44694fc_1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cff44694fc_1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cff44694fc_1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cff44694fc_1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cff44694fc_1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cff44694fc_1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cff44694fc_1_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0155cd4ec_67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0155cd4ec_67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d0155cd4ec_67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d0155cd4ec_67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d0155cd4ec_67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d0155cd4ec_67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757374" y="4309619"/>
            <a:ext cx="65256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1F1F1F"/>
                </a:solidFill>
              </a:rPr>
              <a:t>ՀԱՊՀ</a:t>
            </a:r>
            <a:endParaRPr sz="1300">
              <a:solidFill>
                <a:srgbClr val="1F1F1F"/>
              </a:solidFill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1463740" y="4513588"/>
            <a:ext cx="65256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1F1F1F"/>
                </a:solidFill>
              </a:rPr>
              <a:t>Ն․Բադալյան</a:t>
            </a:r>
            <a:endParaRPr sz="1300">
              <a:solidFill>
                <a:srgbClr val="1F1F1F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1418421" y="4717176"/>
            <a:ext cx="65256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1F1F1F"/>
                </a:solidFill>
              </a:rPr>
              <a:t>2026</a:t>
            </a:r>
            <a:endParaRPr sz="1300">
              <a:solidFill>
                <a:srgbClr val="1F1F1F"/>
              </a:solidFill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2551379" y="4139705"/>
            <a:ext cx="62628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1F1F1F"/>
                </a:solidFill>
              </a:rPr>
              <a:t>, ուսանող՝ Գրիգորյան Արսեն</a:t>
            </a:r>
            <a:endParaRPr sz="1300">
              <a:solidFill>
                <a:srgbClr val="1F1F1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521137" y="-1512900"/>
            <a:ext cx="9989524" cy="8857949"/>
          </a:xfrm>
          <a:prstGeom prst="rect">
            <a:avLst/>
          </a:prstGeom>
          <a:noFill/>
          <a:ln w="9525" cap="flat" cmpd="sng">
            <a:solidFill>
              <a:srgbClr val="FBFAF5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67" name="Google Shape;67;p15"/>
          <p:cNvSpPr/>
          <p:nvPr/>
        </p:nvSpPr>
        <p:spPr>
          <a:xfrm>
            <a:off x="269824" y="679019"/>
            <a:ext cx="4203802" cy="43392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rgbClr val="FBFA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15"/>
          <p:cNvSpPr txBox="1"/>
          <p:nvPr/>
        </p:nvSpPr>
        <p:spPr>
          <a:xfrm>
            <a:off x="604425" y="1663522"/>
            <a:ext cx="3534600" cy="3070800"/>
          </a:xfrm>
          <a:prstGeom prst="rect">
            <a:avLst/>
          </a:prstGeom>
          <a:noFill/>
          <a:ln w="19050" cap="flat" cmpd="sng">
            <a:solidFill>
              <a:srgbClr val="000000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 dirty="0">
                <a:solidFill>
                  <a:srgbClr val="1F1F1F"/>
                </a:solidFill>
                <a:highlight>
                  <a:srgbClr val="E9EEF6"/>
                </a:highlight>
              </a:rPr>
              <a:t> Գրաֆը բաղկացած է.</a:t>
            </a:r>
            <a:endParaRPr sz="1250" dirty="0">
              <a:solidFill>
                <a:srgbClr val="1F1F1F"/>
              </a:solidFill>
              <a:highlight>
                <a:srgbClr val="E9EEF6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50" dirty="0">
              <a:solidFill>
                <a:srgbClr val="1F1F1F"/>
              </a:solidFill>
              <a:highlight>
                <a:srgbClr val="E9EEF6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50" dirty="0">
                <a:solidFill>
                  <a:srgbClr val="1F1F1F"/>
                </a:solidFill>
                <a:highlight>
                  <a:srgbClr val="E9EEF6"/>
                </a:highlight>
              </a:rPr>
              <a:t>• գագաթներից (V)</a:t>
            </a:r>
            <a:endParaRPr sz="1250" dirty="0">
              <a:solidFill>
                <a:srgbClr val="1F1F1F"/>
              </a:solidFill>
              <a:highlight>
                <a:srgbClr val="E9EEF6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50" dirty="0">
                <a:solidFill>
                  <a:srgbClr val="1F1F1F"/>
                </a:solidFill>
                <a:highlight>
                  <a:srgbClr val="E9EEF6"/>
                </a:highlight>
              </a:rPr>
              <a:t>• կողերից (E)</a:t>
            </a:r>
            <a:endParaRPr sz="1250" dirty="0">
              <a:solidFill>
                <a:srgbClr val="1F1F1F"/>
              </a:solidFill>
              <a:highlight>
                <a:srgbClr val="E9EEF6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50" dirty="0">
              <a:solidFill>
                <a:srgbClr val="1F1F1F"/>
              </a:solidFill>
              <a:highlight>
                <a:srgbClr val="E9EEF6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50" dirty="0">
                <a:solidFill>
                  <a:srgbClr val="1F1F1F"/>
                </a:solidFill>
                <a:highlight>
                  <a:srgbClr val="E9EEF6"/>
                </a:highlight>
              </a:rPr>
              <a:t>Յուրաքանչյուր կող կարող է ունենալ քաշ, որը ներկայացնում է.</a:t>
            </a:r>
            <a:endParaRPr sz="1250" dirty="0">
              <a:solidFill>
                <a:srgbClr val="1F1F1F"/>
              </a:solidFill>
              <a:highlight>
                <a:srgbClr val="E9EEF6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50" dirty="0">
              <a:solidFill>
                <a:srgbClr val="1F1F1F"/>
              </a:solidFill>
              <a:highlight>
                <a:srgbClr val="E9EEF6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50" dirty="0">
                <a:solidFill>
                  <a:srgbClr val="1F1F1F"/>
                </a:solidFill>
                <a:highlight>
                  <a:srgbClr val="E9EEF6"/>
                </a:highlight>
              </a:rPr>
              <a:t>• հեռավորություն</a:t>
            </a:r>
            <a:endParaRPr sz="1250" dirty="0">
              <a:solidFill>
                <a:srgbClr val="1F1F1F"/>
              </a:solidFill>
              <a:highlight>
                <a:srgbClr val="E9EEF6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50" dirty="0">
                <a:solidFill>
                  <a:srgbClr val="1F1F1F"/>
                </a:solidFill>
                <a:highlight>
                  <a:srgbClr val="E9EEF6"/>
                </a:highlight>
              </a:rPr>
              <a:t>• ժամանակ</a:t>
            </a:r>
            <a:endParaRPr sz="1250" dirty="0">
              <a:solidFill>
                <a:srgbClr val="1F1F1F"/>
              </a:solidFill>
              <a:highlight>
                <a:srgbClr val="E9EEF6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50" dirty="0">
                <a:solidFill>
                  <a:srgbClr val="1F1F1F"/>
                </a:solidFill>
                <a:highlight>
                  <a:srgbClr val="E9EEF6"/>
                </a:highlight>
              </a:rPr>
              <a:t>• կամ ծախս</a:t>
            </a:r>
            <a:endParaRPr sz="1250" dirty="0">
              <a:solidFill>
                <a:srgbClr val="1F1F1F"/>
              </a:solidFill>
              <a:highlight>
                <a:srgbClr val="E9EEF6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50" dirty="0">
              <a:solidFill>
                <a:srgbClr val="1F1F1F"/>
              </a:solidFill>
              <a:highlight>
                <a:srgbClr val="E9EEF6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 dirty="0">
                <a:solidFill>
                  <a:srgbClr val="1F1F1F"/>
                </a:solidFill>
                <a:highlight>
                  <a:srgbClr val="E9EEF6"/>
                </a:highlight>
              </a:rPr>
              <a:t>Կարճագույն ճանապարհի խնդիրը պահանջում է գտնել այն ճանապարհը, որի ընդհանուր քաշը նվազագույն է։</a:t>
            </a:r>
            <a:endParaRPr sz="1250" dirty="0">
              <a:solidFill>
                <a:srgbClr val="1F1F1F"/>
              </a:solidFill>
              <a:highlight>
                <a:srgbClr val="E9EEF6"/>
              </a:highlight>
            </a:endParaRPr>
          </a:p>
        </p:txBody>
      </p:sp>
      <p:sp>
        <p:nvSpPr>
          <p:cNvPr id="69" name="Google Shape;69;p15"/>
          <p:cNvSpPr txBox="1"/>
          <p:nvPr/>
        </p:nvSpPr>
        <p:spPr>
          <a:xfrm>
            <a:off x="939025" y="917925"/>
            <a:ext cx="7596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dk2"/>
                </a:solidFill>
              </a:rPr>
              <a:t>Գրաֆի մոդել</a:t>
            </a:r>
            <a:endParaRPr sz="1800" b="1"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>
            <a:spLocks noGrp="1"/>
          </p:cNvSpPr>
          <p:nvPr>
            <p:ph type="title"/>
          </p:nvPr>
        </p:nvSpPr>
        <p:spPr>
          <a:xfrm>
            <a:off x="1555775" y="302900"/>
            <a:ext cx="6262500" cy="71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1BDF3"/>
                </a:solidFill>
              </a:rPr>
              <a:t>Կարճագույն ճանապարհի ալգորիթմներ</a:t>
            </a:r>
            <a:endParaRPr>
              <a:solidFill>
                <a:srgbClr val="61BDF3"/>
              </a:solidFill>
            </a:endParaRPr>
          </a:p>
        </p:txBody>
      </p:sp>
      <p:sp>
        <p:nvSpPr>
          <p:cNvPr id="75" name="Google Shape;75;p16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3891000" cy="330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52"/>
              <a:buFont typeface="Arial"/>
              <a:buNone/>
            </a:pPr>
            <a:r>
              <a:rPr lang="en" sz="1430" b="1"/>
              <a:t>Գրաֆերում կարճագույն ճանապարհի որոնման համար գոյություն ունեն տարբեր ալգորիթմներ։</a:t>
            </a:r>
            <a:endParaRPr sz="1430" b="1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852"/>
              <a:buFont typeface="Arial"/>
              <a:buNone/>
            </a:pPr>
            <a:r>
              <a:rPr lang="en" sz="1430" b="1"/>
              <a:t>Այս աշխատանքի շրջանակում ուսումնասիրվել են.</a:t>
            </a:r>
            <a:endParaRPr sz="1430" b="1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852"/>
              <a:buFont typeface="Arial"/>
              <a:buNone/>
            </a:pPr>
            <a:r>
              <a:rPr lang="en" sz="1430" b="1"/>
              <a:t>• Դեյքստրայի ալգորիթմը</a:t>
            </a:r>
            <a:endParaRPr sz="1430" b="1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852"/>
              <a:buFont typeface="Arial"/>
              <a:buNone/>
            </a:pPr>
            <a:r>
              <a:rPr lang="en" sz="1430" b="1"/>
              <a:t>• Ա* ալգորիթմը</a:t>
            </a:r>
            <a:endParaRPr sz="1430" b="1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852"/>
              <a:buNone/>
            </a:pPr>
            <a:r>
              <a:rPr lang="en" sz="1430" b="1"/>
              <a:t>Նպատակն է հասկանալ դրանց աշխատանքի սկզբունքները և համեմատել արդյունավետությունը տարբեր իրավիճակներում։</a:t>
            </a:r>
            <a:endParaRPr sz="1430" b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1BDF3"/>
                </a:solidFill>
              </a:rPr>
              <a:t>Դեյկստրայի Ալգորիթմ</a:t>
            </a:r>
            <a:endParaRPr>
              <a:solidFill>
                <a:srgbClr val="61BDF3"/>
              </a:solidFill>
            </a:endParaRPr>
          </a:p>
        </p:txBody>
      </p:sp>
      <p:sp>
        <p:nvSpPr>
          <p:cNvPr id="81" name="Google Shape;81;p17"/>
          <p:cNvSpPr txBox="1">
            <a:spLocks noGrp="1"/>
          </p:cNvSpPr>
          <p:nvPr>
            <p:ph type="body" idx="1"/>
          </p:nvPr>
        </p:nvSpPr>
        <p:spPr>
          <a:xfrm>
            <a:off x="311700" y="892675"/>
            <a:ext cx="2394300" cy="36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/>
              <a:t>Ալգորիթմի հիմնական գաղափարը.</a:t>
            </a:r>
            <a:endParaRPr b="1"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/>
              <a:t>• սկզբում ընտրվում է մեկնարկային գագաթը</a:t>
            </a:r>
            <a:endParaRPr b="1"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/>
              <a:t>• աստիճ</a:t>
            </a:r>
            <a:r>
              <a:rPr lang="hy-AM" b="1" dirty="0"/>
              <a:t>ա</a:t>
            </a:r>
            <a:r>
              <a:rPr lang="en" b="1" dirty="0"/>
              <a:t>նաբար հաշվարկվում են հարևան գագաթների հեռավորությունները</a:t>
            </a:r>
            <a:endParaRPr b="1"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/>
              <a:t>• յուրաքանչյուր քայլում ընտրվում է նվազագույն հեռավորություն ունեցող դեռ չայցելված գագաթը</a:t>
            </a:r>
            <a:endParaRPr b="1"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b="1" dirty="0"/>
          </a:p>
        </p:txBody>
      </p:sp>
      <p:sp>
        <p:nvSpPr>
          <p:cNvPr id="82" name="Google Shape;82;p17"/>
          <p:cNvSpPr txBox="1">
            <a:spLocks noGrp="1"/>
          </p:cNvSpPr>
          <p:nvPr>
            <p:ph type="body" idx="2"/>
          </p:nvPr>
        </p:nvSpPr>
        <p:spPr>
          <a:xfrm>
            <a:off x="6789550" y="1152475"/>
            <a:ext cx="20427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/>
              <a:t>Ալգորիթմը երաշխավորում է օպտիմալ լուծում, եթե բոլոր կողերի քաշերը ոչ բացասական են։</a:t>
            </a:r>
            <a:endParaRPr b="1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b="1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8"/>
          <p:cNvSpPr txBox="1">
            <a:spLocks noGrp="1"/>
          </p:cNvSpPr>
          <p:nvPr>
            <p:ph type="title"/>
          </p:nvPr>
        </p:nvSpPr>
        <p:spPr>
          <a:xfrm>
            <a:off x="321000" y="287725"/>
            <a:ext cx="8502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1BDF3"/>
                </a:solidFill>
              </a:rPr>
              <a:t>Դեյքսրայի ալգորիթմի աշխատանքը</a:t>
            </a:r>
            <a:endParaRPr>
              <a:solidFill>
                <a:srgbClr val="61BDF3"/>
              </a:solidFill>
            </a:endParaRPr>
          </a:p>
        </p:txBody>
      </p:sp>
      <p:sp>
        <p:nvSpPr>
          <p:cNvPr id="88" name="Google Shape;88;p18"/>
          <p:cNvSpPr txBox="1">
            <a:spLocks noGrp="1"/>
          </p:cNvSpPr>
          <p:nvPr>
            <p:ph type="body" idx="1"/>
          </p:nvPr>
        </p:nvSpPr>
        <p:spPr>
          <a:xfrm>
            <a:off x="321000" y="1136600"/>
            <a:ext cx="4424100" cy="348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52"/>
              <a:buFont typeface="Arial"/>
              <a:buNone/>
            </a:pPr>
            <a:r>
              <a:rPr lang="en" sz="1430" b="1" dirty="0"/>
              <a:t>Ալգորիթմի քայլերը.</a:t>
            </a:r>
            <a:endParaRPr sz="1430" b="1" dirty="0"/>
          </a:p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852"/>
              <a:buFont typeface="Arial"/>
              <a:buNone/>
            </a:pPr>
            <a:r>
              <a:rPr lang="en" sz="1430" b="1" dirty="0"/>
              <a:t>1. մեկնարկային գագաթին տրվում է հեռավորություն 0</a:t>
            </a:r>
            <a:endParaRPr sz="1430" b="1" dirty="0"/>
          </a:p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852"/>
              <a:buFont typeface="Arial"/>
              <a:buNone/>
            </a:pPr>
            <a:r>
              <a:rPr lang="en" sz="1430" b="1" dirty="0"/>
              <a:t>2. հարևան գագաթների համար հաշվարկվում են հնարավոր հեռավորությունները</a:t>
            </a:r>
            <a:endParaRPr sz="1430" b="1" dirty="0"/>
          </a:p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852"/>
              <a:buFont typeface="Arial"/>
              <a:buNone/>
            </a:pPr>
            <a:r>
              <a:rPr lang="en" sz="1430" b="1" dirty="0"/>
              <a:t>3. ընտրվում է նվազագույն արժեք ունեցող գագաթը</a:t>
            </a:r>
            <a:endParaRPr sz="1430" b="1" dirty="0"/>
          </a:p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852"/>
              <a:buFont typeface="Arial"/>
              <a:buNone/>
            </a:pPr>
            <a:r>
              <a:rPr lang="en" sz="1430" b="1" dirty="0"/>
              <a:t>4. գործընթացը կրկնվում է մինչև նպատակային գագաթի հասնելը</a:t>
            </a:r>
            <a:endParaRPr sz="1430" b="1" dirty="0"/>
          </a:p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SzPts val="852"/>
              <a:buNone/>
            </a:pPr>
            <a:r>
              <a:rPr lang="en" sz="1430" b="1" dirty="0"/>
              <a:t>Այս մոտեցումը ուսումնասիրում է գրաֆի բավականին մեծ հատված։</a:t>
            </a:r>
            <a:endParaRPr sz="1430" b="1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20"/>
          <p:cNvPicPr preferRelativeResize="0"/>
          <p:nvPr/>
        </p:nvPicPr>
        <p:blipFill rotWithShape="1">
          <a:blip r:embed="rId3">
            <a:alphaModFix/>
          </a:blip>
          <a:srcRect l="30" r="20"/>
          <a:stretch/>
        </p:blipFill>
        <p:spPr>
          <a:xfrm>
            <a:off x="-35700" y="0"/>
            <a:ext cx="9210675" cy="51476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21" descr="Title: Էվրիստիկ ֆունկցիայի դերը&#10;&#10;Էվրիստիկ ֆունկցիան գնահատում է տվյալ գագաթից մինչև նպատակային գագաթ հնարավոր հեռավորությունը։&#10;&#10;Դրա նպատակն է.&#10;&#10;• արագացնել որոնման գործընթացը  &#10;• նվազեցնել դիտարկվող գագաթների քանակը  &#10;• ուղղորդել ալգորիթմը դեպի նպատակային ուղղություն&#10;&#10;Հաճախ օգտագործվող հյուրիստիկաներ են.&#10;&#10;• Մանհեթենյան հեռավորություն  &#10;• Եվկլիդյան հեռավորություն&#10;Գեներացրու միայն վիզուալը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22" descr="Title: Ա* ալգորիթմի աշխատանքը&#10;&#10;Ա* ալգորիթմը յուրաքանչյուր քայլում ընտրում է այն գագաթը, որի f(n) արժեքը նվազագույն է։&#10;&#10;Դրա արդյունքում.&#10;&#10;• որոնումը շարժվում է դեպի նպատակային ուղղություն  &#10;• ուսումնասիրվում է գրաֆի ավելի փոքր հատված  &#10;• լուծումը հաճախ գտնվում է ավելի արագ&#10;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23" descr="Title: Ալգորիթմների վարքագծի տարբերությունը&#10;&#10;Դեյկստրայի ալգորիթմը ուսումնասիրում է գրաֆը համեմատաբար հավասարաչափ բոլոր ուղղություններով։&#10;&#10;Ա* ալգորիթմը օգտագործում է էվրիստիկ գնահատում և փորձում է շարժվել դեպի նպատակային գագաթը։&#10;&#10;Արդյունքում.&#10;&#10;• Դեյկստրան ուսումնասիրում է ավելի շատ գագաթներ  &#10;• Ա* հաճախ գտնում է ճանապարհը ավելի արագ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4" descr="Title: Դեյքստրա և Ա* համեմատություն&#10;&#10;Հիմնական տարբերությունները.&#10;&#10;Դեյքստրայի ալգորիթմ&#10;• չի օգտագործում հյուրիստիկ գնահատում  &#10;• ուսումնասիրում է մեծ քանակությամբ գագաթներ  &#10;• ապահովում է օպտիմալ լուծում&#10;&#10;Ա* ալգորիթմ&#10;• օգտագործում է հյուրիստիկ ֆունկցիա  &#10;• ուղղորդում է որոնումը դեպի նպատակ  &#10;• հաճախ ավելի արագ է աշխատում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25" descr="Title: Կիրառության ոլորտներ&#10;&#10;Կարճագույն ճանապարհի ալգորիթմները լայնորեն կիրառվում են տարբեր համակարգերում։&#10;&#10;Օրինակներ.&#10;&#10;• նավիգացիոն համակարգեր  &#10;• ռոբոտաշինություն  &#10;• համակարգչային խաղեր  &#10;• ցանցային երթուղավորում  &#10;• արհեստական բանականության պլանավորման համակարգեր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27;p26"/>
          <p:cNvPicPr preferRelativeResize="0"/>
          <p:nvPr/>
        </p:nvPicPr>
        <p:blipFill rotWithShape="1">
          <a:blip r:embed="rId3">
            <a:alphaModFix/>
          </a:blip>
          <a:srcRect l="70" r="60"/>
          <a:stretch/>
        </p:blipFill>
        <p:spPr>
          <a:xfrm>
            <a:off x="-35700" y="0"/>
            <a:ext cx="9210675" cy="515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7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25F37F0-733C-4CFE-84F9-2D1CD54F005C}">
  <we:reference id="wa200008583" version="1.0.0.1" store="en-US" storeType="OMEX"/>
  <we:alternateReferences>
    <we:reference id="wa200008583" version="1.0.0.1" store="en-US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193</Words>
  <Application>Microsoft Office PowerPoint</Application>
  <PresentationFormat>On-screen Show (16:9)</PresentationFormat>
  <Paragraphs>36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5" baseType="lpstr">
      <vt:lpstr>Arial</vt:lpstr>
      <vt:lpstr>Simple Light</vt:lpstr>
      <vt:lpstr>PowerPoint Presentation</vt:lpstr>
      <vt:lpstr>PowerPoint Presentation</vt:lpstr>
      <vt:lpstr>PowerPoint Presentation</vt:lpstr>
      <vt:lpstr>Կարճագույն ճանապարհի ալգորիթմներ</vt:lpstr>
      <vt:lpstr>Դեյկստրայի Ալգորիթմ</vt:lpstr>
      <vt:lpstr>Դեյքսրայի ալգորիթմի աշխատանքը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Arsen Grigoryan</cp:lastModifiedBy>
  <cp:revision>3</cp:revision>
  <dcterms:modified xsi:type="dcterms:W3CDTF">2026-03-14T21:35:30Z</dcterms:modified>
</cp:coreProperties>
</file>